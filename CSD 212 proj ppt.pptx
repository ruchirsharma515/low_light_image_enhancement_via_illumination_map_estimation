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4"/>
  </p:notesMasterIdLst>
  <p:sldIdLst>
    <p:sldId id="278" r:id="rId5"/>
    <p:sldId id="279"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chir Sharma" userId="bb86639558233268" providerId="LiveId" clId="{39FD0EC8-0EC7-41F7-9B10-2A761F106457}"/>
    <pc:docChg chg="delSld modSld">
      <pc:chgData name="Ruchir Sharma" userId="bb86639558233268" providerId="LiveId" clId="{39FD0EC8-0EC7-41F7-9B10-2A761F106457}" dt="2025-08-04T11:03:09.197" v="22" actId="2696"/>
      <pc:docMkLst>
        <pc:docMk/>
      </pc:docMkLst>
      <pc:sldChg chg="modSp mod">
        <pc:chgData name="Ruchir Sharma" userId="bb86639558233268" providerId="LiveId" clId="{39FD0EC8-0EC7-41F7-9B10-2A761F106457}" dt="2025-08-04T11:02:50.810" v="8" actId="20577"/>
        <pc:sldMkLst>
          <pc:docMk/>
          <pc:sldMk cId="4167884232" sldId="278"/>
        </pc:sldMkLst>
        <pc:spChg chg="mod">
          <ac:chgData name="Ruchir Sharma" userId="bb86639558233268" providerId="LiveId" clId="{39FD0EC8-0EC7-41F7-9B10-2A761F106457}" dt="2025-08-04T11:02:50.810" v="8" actId="20577"/>
          <ac:spMkLst>
            <pc:docMk/>
            <pc:sldMk cId="4167884232" sldId="278"/>
            <ac:spMk id="3" creationId="{DB93FB3F-A8D4-46D3-A1C6-C79C64563729}"/>
          </ac:spMkLst>
        </pc:spChg>
      </pc:sldChg>
      <pc:sldChg chg="modSp del mod">
        <pc:chgData name="Ruchir Sharma" userId="bb86639558233268" providerId="LiveId" clId="{39FD0EC8-0EC7-41F7-9B10-2A761F106457}" dt="2025-08-04T11:03:09.197" v="22" actId="2696"/>
        <pc:sldMkLst>
          <pc:docMk/>
          <pc:sldMk cId="1465075897" sldId="280"/>
        </pc:sldMkLst>
        <pc:spChg chg="mod">
          <ac:chgData name="Ruchir Sharma" userId="bb86639558233268" providerId="LiveId" clId="{39FD0EC8-0EC7-41F7-9B10-2A761F106457}" dt="2025-08-04T11:03:05.572" v="21" actId="20577"/>
          <ac:spMkLst>
            <pc:docMk/>
            <pc:sldMk cId="1465075897" sldId="280"/>
            <ac:spMk id="2" creationId="{8B72A290-910E-2425-7CE8-D53F8C9863EB}"/>
          </ac:spMkLst>
        </pc:spChg>
      </pc:sldChg>
    </pc:docChg>
  </pc:docChgLst>
  <pc:docChgLst>
    <pc:chgData name="Ruchir Sharma" userId="bb86639558233268" providerId="LiveId" clId="{7DFB1DF1-6B91-4656-ACD0-76C4360A14F0}"/>
    <pc:docChg chg="modSld">
      <pc:chgData name="Ruchir Sharma" userId="bb86639558233268" providerId="LiveId" clId="{7DFB1DF1-6B91-4656-ACD0-76C4360A14F0}" dt="2025-05-11T07:04:23.352" v="3" actId="20577"/>
      <pc:docMkLst>
        <pc:docMk/>
      </pc:docMkLst>
      <pc:sldChg chg="modSp mod">
        <pc:chgData name="Ruchir Sharma" userId="bb86639558233268" providerId="LiveId" clId="{7DFB1DF1-6B91-4656-ACD0-76C4360A14F0}" dt="2025-05-11T06:50:08.611" v="1" actId="20577"/>
        <pc:sldMkLst>
          <pc:docMk/>
          <pc:sldMk cId="1116705765" sldId="282"/>
        </pc:sldMkLst>
        <pc:spChg chg="mod">
          <ac:chgData name="Ruchir Sharma" userId="bb86639558233268" providerId="LiveId" clId="{7DFB1DF1-6B91-4656-ACD0-76C4360A14F0}" dt="2025-05-11T06:50:08.611" v="1" actId="20577"/>
          <ac:spMkLst>
            <pc:docMk/>
            <pc:sldMk cId="1116705765" sldId="282"/>
            <ac:spMk id="3" creationId="{A700E403-3759-2EEF-AD37-5C9F37B4A18C}"/>
          </ac:spMkLst>
        </pc:spChg>
      </pc:sldChg>
      <pc:sldChg chg="modSp mod">
        <pc:chgData name="Ruchir Sharma" userId="bb86639558233268" providerId="LiveId" clId="{7DFB1DF1-6B91-4656-ACD0-76C4360A14F0}" dt="2025-05-11T06:52:52.868" v="2" actId="20577"/>
        <pc:sldMkLst>
          <pc:docMk/>
          <pc:sldMk cId="3225066136" sldId="291"/>
        </pc:sldMkLst>
        <pc:spChg chg="mod">
          <ac:chgData name="Ruchir Sharma" userId="bb86639558233268" providerId="LiveId" clId="{7DFB1DF1-6B91-4656-ACD0-76C4360A14F0}" dt="2025-05-11T06:52:52.868" v="2" actId="20577"/>
          <ac:spMkLst>
            <pc:docMk/>
            <pc:sldMk cId="3225066136" sldId="291"/>
            <ac:spMk id="3" creationId="{5FE95478-CBD2-7B9E-A647-D92D43AE7ED1}"/>
          </ac:spMkLst>
        </pc:spChg>
      </pc:sldChg>
      <pc:sldChg chg="modSp mod">
        <pc:chgData name="Ruchir Sharma" userId="bb86639558233268" providerId="LiveId" clId="{7DFB1DF1-6B91-4656-ACD0-76C4360A14F0}" dt="2025-05-11T07:04:23.352" v="3" actId="20577"/>
        <pc:sldMkLst>
          <pc:docMk/>
          <pc:sldMk cId="4223784512" sldId="295"/>
        </pc:sldMkLst>
        <pc:spChg chg="mod">
          <ac:chgData name="Ruchir Sharma" userId="bb86639558233268" providerId="LiveId" clId="{7DFB1DF1-6B91-4656-ACD0-76C4360A14F0}" dt="2025-05-11T07:04:23.352" v="3" actId="20577"/>
          <ac:spMkLst>
            <pc:docMk/>
            <pc:sldMk cId="4223784512" sldId="295"/>
            <ac:spMk id="3" creationId="{62952FE4-C97F-B7B5-402E-4215363EB63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8/4/2025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8/4/2025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8/4/2025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8/4/2025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8/4/2025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8/4/2025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8/4/2025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8/4/2025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8/4/2025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8/4/2025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8/4/2025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8/4/2025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a:bodyPr>
          <a:lstStyle/>
          <a:p>
            <a:pPr algn="l"/>
            <a:r>
              <a:rPr lang="en-US" sz="4000" dirty="0"/>
              <a:t>CSD 212 </a:t>
            </a:r>
            <a:br>
              <a:rPr lang="en-US" sz="4000" dirty="0"/>
            </a:br>
            <a:r>
              <a:rPr lang="en-US" sz="4000" dirty="0"/>
              <a:t>DIGITAL</a:t>
            </a:r>
            <a:br>
              <a:rPr lang="en-US" sz="4000" dirty="0"/>
            </a:br>
            <a:r>
              <a:rPr lang="en-US" sz="4000" dirty="0"/>
              <a:t>IMAGE</a:t>
            </a:r>
            <a:br>
              <a:rPr lang="en-US" sz="4000" dirty="0"/>
            </a:br>
            <a:r>
              <a:rPr lang="en-US" sz="4000" dirty="0"/>
              <a:t>PROCESSING</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endParaRPr lang="en-US" sz="2300" dirty="0"/>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600"/>
            <a:ext cx="4538124" cy="970450"/>
          </a:xfrm>
        </p:spPr>
        <p:txBody>
          <a:bodyPr anchor="b">
            <a:normAutofit fontScale="90000"/>
          </a:bodyPr>
          <a:lstStyle/>
          <a:p>
            <a:pPr algn="l"/>
            <a:r>
              <a:rPr lang="en-US" sz="4000" dirty="0"/>
              <a:t>Research Paper Implementation</a:t>
            </a:r>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3" y="1732449"/>
            <a:ext cx="4403596" cy="4058751"/>
          </a:xfrm>
        </p:spPr>
        <p:txBody>
          <a:bodyPr anchor="t">
            <a:normAutofit/>
          </a:bodyPr>
          <a:lstStyle/>
          <a:p>
            <a:r>
              <a:rPr lang="en-US" sz="2400" dirty="0"/>
              <a:t>LIME : Low Light Image Enhancement via Illumination Map Estimation</a:t>
            </a:r>
          </a:p>
        </p:txBody>
      </p:sp>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44234-335B-86A5-B0DC-FE497E3C36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49358324-7C58-84CE-2A3C-9E1D5428BBFE}"/>
              </a:ext>
            </a:extLst>
          </p:cNvPr>
          <p:cNvSpPr>
            <a:spLocks noGrp="1"/>
          </p:cNvSpPr>
          <p:nvPr>
            <p:ph idx="1"/>
          </p:nvPr>
        </p:nvSpPr>
        <p:spPr/>
        <p:txBody>
          <a:bodyPr/>
          <a:lstStyle/>
          <a:p>
            <a:pPr marL="36900" indent="0">
              <a:buNone/>
            </a:pPr>
            <a:r>
              <a:rPr lang="en-US" dirty="0"/>
              <a:t>Enhancing images taken in low-light conditions is essential for computer vision tasks like pedestrian detection and object recognition, which depend on high-quality visual input. Traditional techniques, such as histogram equalization and gamma correction, have notable drawbacks. Histogram equalization can introduce visual artifacts, while gamma correction overlooks spatial context, often producing unnatural results.</a:t>
            </a:r>
            <a:endParaRPr lang="en-IN" dirty="0"/>
          </a:p>
        </p:txBody>
      </p:sp>
    </p:spTree>
    <p:extLst>
      <p:ext uri="{BB962C8B-B14F-4D97-AF65-F5344CB8AC3E}">
        <p14:creationId xmlns:p14="http://schemas.microsoft.com/office/powerpoint/2010/main" val="1083604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62156-6A93-5585-C3BA-A3078B9811ED}"/>
              </a:ext>
            </a:extLst>
          </p:cNvPr>
          <p:cNvSpPr>
            <a:spLocks noGrp="1"/>
          </p:cNvSpPr>
          <p:nvPr>
            <p:ph type="title"/>
          </p:nvPr>
        </p:nvSpPr>
        <p:spPr/>
        <p:txBody>
          <a:bodyPr/>
          <a:lstStyle/>
          <a:p>
            <a:r>
              <a:rPr lang="en-IN" dirty="0"/>
              <a:t>Drawbacks of Using Traditional Methods</a:t>
            </a:r>
          </a:p>
        </p:txBody>
      </p:sp>
      <p:sp>
        <p:nvSpPr>
          <p:cNvPr id="3" name="Content Placeholder 2">
            <a:extLst>
              <a:ext uri="{FF2B5EF4-FFF2-40B4-BE49-F238E27FC236}">
                <a16:creationId xmlns:a16="http://schemas.microsoft.com/office/drawing/2014/main" id="{A700E403-3759-2EEF-AD37-5C9F37B4A18C}"/>
              </a:ext>
            </a:extLst>
          </p:cNvPr>
          <p:cNvSpPr>
            <a:spLocks noGrp="1"/>
          </p:cNvSpPr>
          <p:nvPr>
            <p:ph idx="1"/>
          </p:nvPr>
        </p:nvSpPr>
        <p:spPr>
          <a:xfrm>
            <a:off x="913795" y="2037121"/>
            <a:ext cx="10353762" cy="3714749"/>
          </a:xfrm>
        </p:spPr>
        <p:txBody>
          <a:bodyPr/>
          <a:lstStyle/>
          <a:p>
            <a:r>
              <a:rPr lang="en-IN" b="1" i="1" dirty="0"/>
              <a:t>Direct Amplification</a:t>
            </a:r>
            <a:br>
              <a:rPr lang="en-IN" b="1" i="1" dirty="0"/>
            </a:br>
            <a:r>
              <a:rPr lang="en-IN" dirty="0"/>
              <a:t>Although it is the most intuitive method to recall the visibility of dark regions. But, this operation is not useful as relatively bright regions of image might be saturated and thus lose corresponding details</a:t>
            </a:r>
            <a:br>
              <a:rPr lang="en-IN" dirty="0"/>
            </a:br>
            <a:endParaRPr lang="en-IN" dirty="0"/>
          </a:p>
        </p:txBody>
      </p:sp>
    </p:spTree>
    <p:extLst>
      <p:ext uri="{BB962C8B-B14F-4D97-AF65-F5344CB8AC3E}">
        <p14:creationId xmlns:p14="http://schemas.microsoft.com/office/powerpoint/2010/main" val="1116705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13E0-65BF-7851-47FC-C5DD775AD447}"/>
              </a:ext>
            </a:extLst>
          </p:cNvPr>
          <p:cNvSpPr>
            <a:spLocks noGrp="1"/>
          </p:cNvSpPr>
          <p:nvPr>
            <p:ph type="title"/>
          </p:nvPr>
        </p:nvSpPr>
        <p:spPr/>
        <p:txBody>
          <a:bodyPr/>
          <a:lstStyle/>
          <a:p>
            <a:r>
              <a:rPr lang="en-IN" dirty="0"/>
              <a:t>Drawbacks of Using Traditional Methods</a:t>
            </a:r>
          </a:p>
        </p:txBody>
      </p:sp>
      <p:sp>
        <p:nvSpPr>
          <p:cNvPr id="3" name="Content Placeholder 2">
            <a:extLst>
              <a:ext uri="{FF2B5EF4-FFF2-40B4-BE49-F238E27FC236}">
                <a16:creationId xmlns:a16="http://schemas.microsoft.com/office/drawing/2014/main" id="{BB27EB82-BF48-D46E-D2D1-6BDDA57C0026}"/>
              </a:ext>
            </a:extLst>
          </p:cNvPr>
          <p:cNvSpPr>
            <a:spLocks noGrp="1"/>
          </p:cNvSpPr>
          <p:nvPr>
            <p:ph idx="1"/>
          </p:nvPr>
        </p:nvSpPr>
        <p:spPr/>
        <p:txBody>
          <a:bodyPr/>
          <a:lstStyle/>
          <a:p>
            <a:r>
              <a:rPr lang="en-IN" b="1" i="1" dirty="0"/>
              <a:t>Histogram  Equalization</a:t>
            </a:r>
            <a:br>
              <a:rPr lang="en-IN" b="1" i="1" dirty="0"/>
            </a:br>
            <a:r>
              <a:rPr lang="en-IN" dirty="0"/>
              <a:t>It can solve the problem by somehow forcing the image to fall in the range [0,1] , but they focus on contrast enhancement instead of exploiting real illumination causes  it has a risk of over-enhancement and under-enhancement.</a:t>
            </a:r>
          </a:p>
        </p:txBody>
      </p:sp>
    </p:spTree>
    <p:extLst>
      <p:ext uri="{BB962C8B-B14F-4D97-AF65-F5344CB8AC3E}">
        <p14:creationId xmlns:p14="http://schemas.microsoft.com/office/powerpoint/2010/main" val="3780672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7B68-51DB-8B38-4946-1CB7F230897B}"/>
              </a:ext>
            </a:extLst>
          </p:cNvPr>
          <p:cNvSpPr>
            <a:spLocks noGrp="1"/>
          </p:cNvSpPr>
          <p:nvPr>
            <p:ph type="title"/>
          </p:nvPr>
        </p:nvSpPr>
        <p:spPr/>
        <p:txBody>
          <a:bodyPr/>
          <a:lstStyle/>
          <a:p>
            <a:r>
              <a:rPr lang="en-IN" dirty="0"/>
              <a:t>Drawbacks of Using Traditional Methods</a:t>
            </a:r>
          </a:p>
        </p:txBody>
      </p:sp>
      <p:sp>
        <p:nvSpPr>
          <p:cNvPr id="3" name="Content Placeholder 2">
            <a:extLst>
              <a:ext uri="{FF2B5EF4-FFF2-40B4-BE49-F238E27FC236}">
                <a16:creationId xmlns:a16="http://schemas.microsoft.com/office/drawing/2014/main" id="{750F6A7B-5F06-C247-838D-4D2FFC77B7E6}"/>
              </a:ext>
            </a:extLst>
          </p:cNvPr>
          <p:cNvSpPr>
            <a:spLocks noGrp="1"/>
          </p:cNvSpPr>
          <p:nvPr>
            <p:ph idx="1"/>
          </p:nvPr>
        </p:nvSpPr>
        <p:spPr/>
        <p:txBody>
          <a:bodyPr/>
          <a:lstStyle/>
          <a:p>
            <a:r>
              <a:rPr lang="en-IN" b="1" i="1" dirty="0"/>
              <a:t>Gamma Correction</a:t>
            </a:r>
            <a:br>
              <a:rPr lang="en-IN" b="1" i="1" dirty="0"/>
            </a:br>
            <a:r>
              <a:rPr lang="en-IN" dirty="0"/>
              <a:t>It is non linear operation on images. The main drawback is that this gamma correction is carried out on each pixel </a:t>
            </a:r>
            <a:r>
              <a:rPr lang="en-US" dirty="0"/>
              <a:t>without considering the relationship of a certain pixel with its neighbors, and thus may make enhanced results vulnerable and visually inconsistent with real scenes.</a:t>
            </a:r>
            <a:r>
              <a:rPr lang="en-IN" dirty="0"/>
              <a:t> </a:t>
            </a:r>
          </a:p>
        </p:txBody>
      </p:sp>
    </p:spTree>
    <p:extLst>
      <p:ext uri="{BB962C8B-B14F-4D97-AF65-F5344CB8AC3E}">
        <p14:creationId xmlns:p14="http://schemas.microsoft.com/office/powerpoint/2010/main" val="3634423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0F33-6FAC-BE92-9D56-017D218DA349}"/>
              </a:ext>
            </a:extLst>
          </p:cNvPr>
          <p:cNvSpPr>
            <a:spLocks noGrp="1"/>
          </p:cNvSpPr>
          <p:nvPr>
            <p:ph type="title"/>
          </p:nvPr>
        </p:nvSpPr>
        <p:spPr/>
        <p:txBody>
          <a:bodyPr/>
          <a:lstStyle/>
          <a:p>
            <a:r>
              <a:rPr lang="en-IN" dirty="0"/>
              <a:t>Methodology</a:t>
            </a:r>
          </a:p>
        </p:txBody>
      </p:sp>
      <p:sp>
        <p:nvSpPr>
          <p:cNvPr id="3" name="Content Placeholder 2">
            <a:extLst>
              <a:ext uri="{FF2B5EF4-FFF2-40B4-BE49-F238E27FC236}">
                <a16:creationId xmlns:a16="http://schemas.microsoft.com/office/drawing/2014/main" id="{6806F1BD-7C0C-F4B5-F6D6-C46AA71B4A0D}"/>
              </a:ext>
            </a:extLst>
          </p:cNvPr>
          <p:cNvSpPr>
            <a:spLocks noGrp="1"/>
          </p:cNvSpPr>
          <p:nvPr>
            <p:ph idx="1"/>
          </p:nvPr>
        </p:nvSpPr>
        <p:spPr/>
        <p:txBody>
          <a:bodyPr/>
          <a:lstStyle/>
          <a:p>
            <a:r>
              <a:rPr lang="en-IN" dirty="0"/>
              <a:t>Estimation of illumination map</a:t>
            </a:r>
            <a:br>
              <a:rPr lang="en-IN" dirty="0"/>
            </a:br>
            <a:r>
              <a:rPr lang="en-IN" dirty="0"/>
              <a:t>The approach is based on the </a:t>
            </a:r>
            <a:r>
              <a:rPr lang="en-IN" dirty="0" err="1"/>
              <a:t>retinex</a:t>
            </a:r>
            <a:r>
              <a:rPr lang="en-IN" dirty="0"/>
              <a:t> model, where the </a:t>
            </a:r>
            <a:r>
              <a:rPr lang="en-US" dirty="0"/>
              <a:t>captured low-light image L is composed of the desired scene R and the illumination map T, as follows</a:t>
            </a:r>
            <a:br>
              <a:rPr lang="en-US" dirty="0"/>
            </a:br>
            <a:endParaRPr lang="en-IN" dirty="0"/>
          </a:p>
        </p:txBody>
      </p:sp>
      <p:pic>
        <p:nvPicPr>
          <p:cNvPr id="5" name="Picture 4">
            <a:extLst>
              <a:ext uri="{FF2B5EF4-FFF2-40B4-BE49-F238E27FC236}">
                <a16:creationId xmlns:a16="http://schemas.microsoft.com/office/drawing/2014/main" id="{57CD8FD4-F5D6-8690-0895-4374ABEEB9C1}"/>
              </a:ext>
            </a:extLst>
          </p:cNvPr>
          <p:cNvPicPr>
            <a:picLocks noChangeAspect="1"/>
          </p:cNvPicPr>
          <p:nvPr/>
        </p:nvPicPr>
        <p:blipFill>
          <a:blip r:embed="rId2"/>
          <a:stretch>
            <a:fillRect/>
          </a:stretch>
        </p:blipFill>
        <p:spPr>
          <a:xfrm>
            <a:off x="5019781" y="3693773"/>
            <a:ext cx="1798476" cy="480102"/>
          </a:xfrm>
          <a:prstGeom prst="rect">
            <a:avLst/>
          </a:prstGeom>
        </p:spPr>
      </p:pic>
    </p:spTree>
    <p:extLst>
      <p:ext uri="{BB962C8B-B14F-4D97-AF65-F5344CB8AC3E}">
        <p14:creationId xmlns:p14="http://schemas.microsoft.com/office/powerpoint/2010/main" val="523817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42FF9-9BCB-A9BC-6C60-C0B8E4213395}"/>
              </a:ext>
            </a:extLst>
          </p:cNvPr>
          <p:cNvSpPr>
            <a:spLocks noGrp="1"/>
          </p:cNvSpPr>
          <p:nvPr>
            <p:ph type="title"/>
          </p:nvPr>
        </p:nvSpPr>
        <p:spPr/>
        <p:txBody>
          <a:bodyPr/>
          <a:lstStyle/>
          <a:p>
            <a:endParaRPr lang="en-IN" dirty="0"/>
          </a:p>
        </p:txBody>
      </p:sp>
      <p:sp>
        <p:nvSpPr>
          <p:cNvPr id="11" name="Content Placeholder 10">
            <a:extLst>
              <a:ext uri="{FF2B5EF4-FFF2-40B4-BE49-F238E27FC236}">
                <a16:creationId xmlns:a16="http://schemas.microsoft.com/office/drawing/2014/main" id="{982ABAB8-BD1F-6769-E30A-736C4991D2D3}"/>
              </a:ext>
            </a:extLst>
          </p:cNvPr>
          <p:cNvSpPr>
            <a:spLocks noGrp="1"/>
          </p:cNvSpPr>
          <p:nvPr>
            <p:ph idx="1"/>
          </p:nvPr>
        </p:nvSpPr>
        <p:spPr/>
        <p:txBody>
          <a:bodyPr/>
          <a:lstStyle/>
          <a:p>
            <a:r>
              <a:rPr lang="en-US" dirty="0"/>
              <a:t>where L and R are the captured image and the desired recovery, respectively. Furthermore, T represents the illumination map, and the operator ◦ means element-wise multiplication. The enhanced image can be obtained by</a:t>
            </a:r>
            <a:br>
              <a:rPr lang="en-US" dirty="0"/>
            </a:br>
            <a:endParaRPr lang="en-IN" dirty="0"/>
          </a:p>
        </p:txBody>
      </p:sp>
      <p:pic>
        <p:nvPicPr>
          <p:cNvPr id="13" name="Picture 12">
            <a:extLst>
              <a:ext uri="{FF2B5EF4-FFF2-40B4-BE49-F238E27FC236}">
                <a16:creationId xmlns:a16="http://schemas.microsoft.com/office/drawing/2014/main" id="{CD166CAF-1F41-3A4C-D160-DA18E8953E96}"/>
              </a:ext>
            </a:extLst>
          </p:cNvPr>
          <p:cNvPicPr>
            <a:picLocks noChangeAspect="1"/>
          </p:cNvPicPr>
          <p:nvPr/>
        </p:nvPicPr>
        <p:blipFill>
          <a:blip r:embed="rId2"/>
          <a:stretch>
            <a:fillRect/>
          </a:stretch>
        </p:blipFill>
        <p:spPr>
          <a:xfrm>
            <a:off x="4498258" y="3429000"/>
            <a:ext cx="3230860" cy="1382508"/>
          </a:xfrm>
          <a:prstGeom prst="rect">
            <a:avLst/>
          </a:prstGeom>
        </p:spPr>
      </p:pic>
    </p:spTree>
    <p:extLst>
      <p:ext uri="{BB962C8B-B14F-4D97-AF65-F5344CB8AC3E}">
        <p14:creationId xmlns:p14="http://schemas.microsoft.com/office/powerpoint/2010/main" val="3051096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8C44B-154D-94B1-5E5A-4670D99D4F1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1B3F04-E699-A984-0AFC-E025E3DB8940}"/>
              </a:ext>
            </a:extLst>
          </p:cNvPr>
          <p:cNvSpPr>
            <a:spLocks noGrp="1"/>
          </p:cNvSpPr>
          <p:nvPr>
            <p:ph idx="1"/>
          </p:nvPr>
        </p:nvSpPr>
        <p:spPr/>
        <p:txBody>
          <a:bodyPr/>
          <a:lstStyle/>
          <a:p>
            <a:r>
              <a:rPr lang="en-US" dirty="0"/>
              <a:t>An initial estimate of the illumination map T(hat) for each pixel p, is obtained as per the following operation</a:t>
            </a:r>
          </a:p>
          <a:p>
            <a:pPr marL="36900" indent="0">
              <a:buNone/>
            </a:pPr>
            <a:br>
              <a:rPr lang="en-US" dirty="0"/>
            </a:br>
            <a:endParaRPr lang="en-IN" dirty="0"/>
          </a:p>
        </p:txBody>
      </p:sp>
      <p:pic>
        <p:nvPicPr>
          <p:cNvPr id="5" name="Picture 4">
            <a:extLst>
              <a:ext uri="{FF2B5EF4-FFF2-40B4-BE49-F238E27FC236}">
                <a16:creationId xmlns:a16="http://schemas.microsoft.com/office/drawing/2014/main" id="{728CA23E-648C-E84C-3961-9DFDA8D06DFE}"/>
              </a:ext>
            </a:extLst>
          </p:cNvPr>
          <p:cNvPicPr>
            <a:picLocks noChangeAspect="1"/>
          </p:cNvPicPr>
          <p:nvPr/>
        </p:nvPicPr>
        <p:blipFill>
          <a:blip r:embed="rId2"/>
          <a:stretch>
            <a:fillRect/>
          </a:stretch>
        </p:blipFill>
        <p:spPr>
          <a:xfrm>
            <a:off x="3993796" y="3177518"/>
            <a:ext cx="3704111" cy="922534"/>
          </a:xfrm>
          <a:prstGeom prst="rect">
            <a:avLst/>
          </a:prstGeom>
        </p:spPr>
      </p:pic>
    </p:spTree>
    <p:extLst>
      <p:ext uri="{BB962C8B-B14F-4D97-AF65-F5344CB8AC3E}">
        <p14:creationId xmlns:p14="http://schemas.microsoft.com/office/powerpoint/2010/main" val="1219251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1350D-6D0B-3455-1C92-968F59D884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0CBCA0-EAFB-EFF7-F639-3B8B8003BF7C}"/>
              </a:ext>
            </a:extLst>
          </p:cNvPr>
          <p:cNvSpPr>
            <a:spLocks noGrp="1"/>
          </p:cNvSpPr>
          <p:nvPr>
            <p:ph idx="1"/>
          </p:nvPr>
        </p:nvSpPr>
        <p:spPr/>
        <p:txBody>
          <a:bodyPr/>
          <a:lstStyle/>
          <a:p>
            <a:r>
              <a:rPr lang="en-US" dirty="0"/>
              <a:t>This approach is designed to enhance the illumination of low light images in a non-uniform manner, as opposed to uniformly increasing the overall brightness. It operates on the principle that the illumination at any given pixel can be approximated by the maximum value among its red, green, and blue (R, G, B) channel intensities.</a:t>
            </a:r>
            <a:endParaRPr lang="en-IN" dirty="0"/>
          </a:p>
        </p:txBody>
      </p:sp>
    </p:spTree>
    <p:extLst>
      <p:ext uri="{BB962C8B-B14F-4D97-AF65-F5344CB8AC3E}">
        <p14:creationId xmlns:p14="http://schemas.microsoft.com/office/powerpoint/2010/main" val="3326820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172B4-D2A2-08F7-4248-A517FEFE238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6F834D-79FD-77E8-D457-B310FDC101D4}"/>
              </a:ext>
            </a:extLst>
          </p:cNvPr>
          <p:cNvSpPr>
            <a:spLocks noGrp="1"/>
          </p:cNvSpPr>
          <p:nvPr>
            <p:ph idx="1"/>
          </p:nvPr>
        </p:nvSpPr>
        <p:spPr/>
        <p:txBody>
          <a:bodyPr/>
          <a:lstStyle/>
          <a:p>
            <a:r>
              <a:rPr lang="en-US" dirty="0"/>
              <a:t>To refine the resulting illumination map—preserving the global structure of the image while simultaneously smoothing out local texture variations—the following optimization problem is formulated and solved. </a:t>
            </a:r>
            <a:br>
              <a:rPr lang="en-US" dirty="0"/>
            </a:br>
            <a:endParaRPr lang="en-IN" dirty="0"/>
          </a:p>
        </p:txBody>
      </p:sp>
      <p:pic>
        <p:nvPicPr>
          <p:cNvPr id="5" name="Picture 4">
            <a:extLst>
              <a:ext uri="{FF2B5EF4-FFF2-40B4-BE49-F238E27FC236}">
                <a16:creationId xmlns:a16="http://schemas.microsoft.com/office/drawing/2014/main" id="{42418FD6-50BA-5B96-7C27-C95B8D3183B4}"/>
              </a:ext>
            </a:extLst>
          </p:cNvPr>
          <p:cNvPicPr>
            <a:picLocks noChangeAspect="1"/>
          </p:cNvPicPr>
          <p:nvPr/>
        </p:nvPicPr>
        <p:blipFill>
          <a:blip r:embed="rId2"/>
          <a:stretch>
            <a:fillRect/>
          </a:stretch>
        </p:blipFill>
        <p:spPr>
          <a:xfrm>
            <a:off x="3032339" y="3507067"/>
            <a:ext cx="5792102" cy="1404146"/>
          </a:xfrm>
          <a:prstGeom prst="rect">
            <a:avLst/>
          </a:prstGeom>
        </p:spPr>
      </p:pic>
    </p:spTree>
    <p:extLst>
      <p:ext uri="{BB962C8B-B14F-4D97-AF65-F5344CB8AC3E}">
        <p14:creationId xmlns:p14="http://schemas.microsoft.com/office/powerpoint/2010/main" val="1187617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5E1BA-5AAF-96CC-64C0-C4525084C9E2}"/>
              </a:ext>
            </a:extLst>
          </p:cNvPr>
          <p:cNvSpPr>
            <a:spLocks noGrp="1"/>
          </p:cNvSpPr>
          <p:nvPr>
            <p:ph type="title"/>
          </p:nvPr>
        </p:nvSpPr>
        <p:spPr/>
        <p:txBody>
          <a:bodyPr/>
          <a:lstStyle/>
          <a:p>
            <a:r>
              <a:rPr lang="en-IN" dirty="0"/>
              <a:t>Solving The Optimization Problem</a:t>
            </a:r>
          </a:p>
        </p:txBody>
      </p:sp>
      <p:sp>
        <p:nvSpPr>
          <p:cNvPr id="3" name="Content Placeholder 2">
            <a:extLst>
              <a:ext uri="{FF2B5EF4-FFF2-40B4-BE49-F238E27FC236}">
                <a16:creationId xmlns:a16="http://schemas.microsoft.com/office/drawing/2014/main" id="{0F863C7B-B23F-344C-C944-81E9172A00BF}"/>
              </a:ext>
            </a:extLst>
          </p:cNvPr>
          <p:cNvSpPr>
            <a:spLocks noGrp="1"/>
          </p:cNvSpPr>
          <p:nvPr>
            <p:ph idx="1"/>
          </p:nvPr>
        </p:nvSpPr>
        <p:spPr/>
        <p:txBody>
          <a:bodyPr/>
          <a:lstStyle/>
          <a:p>
            <a:r>
              <a:rPr lang="en-US" dirty="0"/>
              <a:t>As the ℓ1 norm is not differentiable, this problem can be solved by using the Alternating Direction Method of Multipliers (ADMM). Since both the terms in the objective function involve T, an auxiliary variable G is introduced for making the problem separable. Accordingly, ∇T = G is added as a constraint.</a:t>
            </a:r>
            <a:br>
              <a:rPr lang="en-US" dirty="0"/>
            </a:br>
            <a:endParaRPr lang="en-IN" dirty="0"/>
          </a:p>
        </p:txBody>
      </p:sp>
      <p:pic>
        <p:nvPicPr>
          <p:cNvPr id="5" name="Picture 4">
            <a:extLst>
              <a:ext uri="{FF2B5EF4-FFF2-40B4-BE49-F238E27FC236}">
                <a16:creationId xmlns:a16="http://schemas.microsoft.com/office/drawing/2014/main" id="{F489F031-BD38-1AB1-E0BF-26E852496E3E}"/>
              </a:ext>
            </a:extLst>
          </p:cNvPr>
          <p:cNvPicPr>
            <a:picLocks noChangeAspect="1"/>
          </p:cNvPicPr>
          <p:nvPr/>
        </p:nvPicPr>
        <p:blipFill>
          <a:blip r:embed="rId2"/>
          <a:stretch>
            <a:fillRect/>
          </a:stretch>
        </p:blipFill>
        <p:spPr>
          <a:xfrm>
            <a:off x="1348486" y="3852708"/>
            <a:ext cx="9438240" cy="1102750"/>
          </a:xfrm>
          <a:prstGeom prst="rect">
            <a:avLst/>
          </a:prstGeom>
        </p:spPr>
      </p:pic>
    </p:spTree>
    <p:extLst>
      <p:ext uri="{BB962C8B-B14F-4D97-AF65-F5344CB8AC3E}">
        <p14:creationId xmlns:p14="http://schemas.microsoft.com/office/powerpoint/2010/main" val="1993139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1203-D260-AAEA-1BC5-DD81F00462B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E95478-CBD2-7B9E-A647-D92D43AE7ED1}"/>
              </a:ext>
            </a:extLst>
          </p:cNvPr>
          <p:cNvSpPr>
            <a:spLocks noGrp="1"/>
          </p:cNvSpPr>
          <p:nvPr>
            <p:ph idx="1"/>
          </p:nvPr>
        </p:nvSpPr>
        <p:spPr/>
        <p:txBody>
          <a:bodyPr/>
          <a:lstStyle/>
          <a:p>
            <a:r>
              <a:rPr lang="en-IN" dirty="0"/>
              <a:t>The augmented </a:t>
            </a:r>
            <a:r>
              <a:rPr lang="en-IN" dirty="0" err="1"/>
              <a:t>Lagrangian</a:t>
            </a:r>
            <a:r>
              <a:rPr lang="en-IN" dirty="0"/>
              <a:t> function for this problem can be formulated as </a:t>
            </a:r>
            <a:br>
              <a:rPr lang="en-IN" dirty="0"/>
            </a:br>
            <a:endParaRPr lang="en-IN" dirty="0"/>
          </a:p>
        </p:txBody>
      </p:sp>
      <p:pic>
        <p:nvPicPr>
          <p:cNvPr id="5" name="Picture 4">
            <a:extLst>
              <a:ext uri="{FF2B5EF4-FFF2-40B4-BE49-F238E27FC236}">
                <a16:creationId xmlns:a16="http://schemas.microsoft.com/office/drawing/2014/main" id="{5495B817-8614-9600-95A1-D216C012A81D}"/>
              </a:ext>
            </a:extLst>
          </p:cNvPr>
          <p:cNvPicPr>
            <a:picLocks noChangeAspect="1"/>
          </p:cNvPicPr>
          <p:nvPr/>
        </p:nvPicPr>
        <p:blipFill>
          <a:blip r:embed="rId2"/>
          <a:stretch>
            <a:fillRect/>
          </a:stretch>
        </p:blipFill>
        <p:spPr>
          <a:xfrm>
            <a:off x="2027594" y="3036535"/>
            <a:ext cx="7324012" cy="1314239"/>
          </a:xfrm>
          <a:prstGeom prst="rect">
            <a:avLst/>
          </a:prstGeom>
        </p:spPr>
      </p:pic>
    </p:spTree>
    <p:extLst>
      <p:ext uri="{BB962C8B-B14F-4D97-AF65-F5344CB8AC3E}">
        <p14:creationId xmlns:p14="http://schemas.microsoft.com/office/powerpoint/2010/main" val="3225066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58DBC-427C-A123-A5AD-DE1FEE86A8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7DC6B4-4CE6-D8B1-E8AE-A71DFAFF4313}"/>
              </a:ext>
            </a:extLst>
          </p:cNvPr>
          <p:cNvSpPr>
            <a:spLocks noGrp="1"/>
          </p:cNvSpPr>
          <p:nvPr>
            <p:ph idx="1"/>
          </p:nvPr>
        </p:nvSpPr>
        <p:spPr/>
        <p:txBody>
          <a:bodyPr/>
          <a:lstStyle/>
          <a:p>
            <a:r>
              <a:rPr lang="en-IN" dirty="0"/>
              <a:t>T sub problem - </a:t>
            </a:r>
            <a:r>
              <a:rPr lang="en-US" dirty="0"/>
              <a:t>Collecting the T involved terms gives the problem as follows </a:t>
            </a:r>
          </a:p>
          <a:p>
            <a:endParaRPr lang="en-US" dirty="0"/>
          </a:p>
          <a:p>
            <a:pPr marL="36900" indent="0">
              <a:buNone/>
            </a:pPr>
            <a:r>
              <a:rPr lang="en-US" dirty="0"/>
              <a:t>this problem is classical least squares problem hence the solution can be computed through differentiating the above equation </a:t>
            </a:r>
            <a:r>
              <a:rPr lang="en-US" dirty="0" err="1"/>
              <a:t>wrt</a:t>
            </a:r>
            <a:r>
              <a:rPr lang="en-US" dirty="0"/>
              <a:t> T and setting it to zero. </a:t>
            </a:r>
            <a:br>
              <a:rPr lang="en-US" dirty="0"/>
            </a:br>
            <a:endParaRPr lang="en-IN" dirty="0"/>
          </a:p>
        </p:txBody>
      </p:sp>
      <p:pic>
        <p:nvPicPr>
          <p:cNvPr id="5" name="Picture 4">
            <a:extLst>
              <a:ext uri="{FF2B5EF4-FFF2-40B4-BE49-F238E27FC236}">
                <a16:creationId xmlns:a16="http://schemas.microsoft.com/office/drawing/2014/main" id="{EFC48F1F-97C9-68A4-ED8F-64B426D3D4BA}"/>
              </a:ext>
            </a:extLst>
          </p:cNvPr>
          <p:cNvPicPr>
            <a:picLocks noChangeAspect="1"/>
          </p:cNvPicPr>
          <p:nvPr/>
        </p:nvPicPr>
        <p:blipFill>
          <a:blip r:embed="rId2"/>
          <a:stretch>
            <a:fillRect/>
          </a:stretch>
        </p:blipFill>
        <p:spPr>
          <a:xfrm>
            <a:off x="3714317" y="2728431"/>
            <a:ext cx="4320914" cy="457240"/>
          </a:xfrm>
          <a:prstGeom prst="rect">
            <a:avLst/>
          </a:prstGeom>
        </p:spPr>
      </p:pic>
      <p:pic>
        <p:nvPicPr>
          <p:cNvPr id="7" name="Picture 6">
            <a:extLst>
              <a:ext uri="{FF2B5EF4-FFF2-40B4-BE49-F238E27FC236}">
                <a16:creationId xmlns:a16="http://schemas.microsoft.com/office/drawing/2014/main" id="{1A1D422A-7CD9-9DCA-E6C5-98E736939C3F}"/>
              </a:ext>
            </a:extLst>
          </p:cNvPr>
          <p:cNvPicPr>
            <a:picLocks noChangeAspect="1"/>
          </p:cNvPicPr>
          <p:nvPr/>
        </p:nvPicPr>
        <p:blipFill>
          <a:blip r:embed="rId3"/>
          <a:stretch>
            <a:fillRect/>
          </a:stretch>
        </p:blipFill>
        <p:spPr>
          <a:xfrm>
            <a:off x="4057246" y="4072390"/>
            <a:ext cx="3977985" cy="838273"/>
          </a:xfrm>
          <a:prstGeom prst="rect">
            <a:avLst/>
          </a:prstGeom>
        </p:spPr>
      </p:pic>
    </p:spTree>
    <p:extLst>
      <p:ext uri="{BB962C8B-B14F-4D97-AF65-F5344CB8AC3E}">
        <p14:creationId xmlns:p14="http://schemas.microsoft.com/office/powerpoint/2010/main" val="3543907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17EAE-1D20-EB64-E70F-E799F491E2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BB7790-F9A6-C9ED-6FBF-76AC7609A360}"/>
              </a:ext>
            </a:extLst>
          </p:cNvPr>
          <p:cNvSpPr>
            <a:spLocks noGrp="1"/>
          </p:cNvSpPr>
          <p:nvPr>
            <p:ph idx="1"/>
          </p:nvPr>
        </p:nvSpPr>
        <p:spPr/>
        <p:txBody>
          <a:bodyPr/>
          <a:lstStyle/>
          <a:p>
            <a:r>
              <a:rPr lang="en-US" dirty="0"/>
              <a:t>D contains Dh and </a:t>
            </a:r>
            <a:r>
              <a:rPr lang="en-US" dirty="0" err="1"/>
              <a:t>Dv</a:t>
            </a:r>
            <a:r>
              <a:rPr lang="en-US" dirty="0"/>
              <a:t>, which are the Toeplitz matrices from the discrete gradient operators with forward difference. Directly calculating the inverse of 2T+µ(t)D^TD is an intuitive way to accomplish this job. However, the matrix inverse is computationally expensive, especially for large matrices like DTD. Fortunately, by assuming circular boundary conditions, we can apply 2D FFT techniques on the above problem, which enables us to compute the solution fast. Consequently, we have</a:t>
            </a:r>
            <a:endParaRPr lang="en-IN" dirty="0"/>
          </a:p>
        </p:txBody>
      </p:sp>
    </p:spTree>
    <p:extLst>
      <p:ext uri="{BB962C8B-B14F-4D97-AF65-F5344CB8AC3E}">
        <p14:creationId xmlns:p14="http://schemas.microsoft.com/office/powerpoint/2010/main" val="3848788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914AC-A360-1AF1-4BBA-C5C475B03E1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5B0CE80-28EE-6B22-F643-C57AF4657B05}"/>
              </a:ext>
            </a:extLst>
          </p:cNvPr>
          <p:cNvPicPr>
            <a:picLocks noGrp="1" noChangeAspect="1"/>
          </p:cNvPicPr>
          <p:nvPr>
            <p:ph idx="1"/>
          </p:nvPr>
        </p:nvPicPr>
        <p:blipFill>
          <a:blip r:embed="rId2"/>
          <a:stretch>
            <a:fillRect/>
          </a:stretch>
        </p:blipFill>
        <p:spPr>
          <a:xfrm>
            <a:off x="299630" y="2890685"/>
            <a:ext cx="10890609" cy="1961534"/>
          </a:xfrm>
        </p:spPr>
      </p:pic>
    </p:spTree>
    <p:extLst>
      <p:ext uri="{BB962C8B-B14F-4D97-AF65-F5344CB8AC3E}">
        <p14:creationId xmlns:p14="http://schemas.microsoft.com/office/powerpoint/2010/main" val="3412299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52D15-C497-2402-ECDB-59EE7ACA124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2952FE4-C97F-B7B5-402E-4215363EB637}"/>
              </a:ext>
            </a:extLst>
          </p:cNvPr>
          <p:cNvSpPr>
            <a:spLocks noGrp="1"/>
          </p:cNvSpPr>
          <p:nvPr>
            <p:ph idx="1"/>
          </p:nvPr>
        </p:nvSpPr>
        <p:spPr/>
        <p:txBody>
          <a:bodyPr/>
          <a:lstStyle/>
          <a:p>
            <a:r>
              <a:rPr lang="en-IN" dirty="0"/>
              <a:t>G sub problem - </a:t>
            </a:r>
            <a:r>
              <a:rPr lang="en-US" dirty="0"/>
              <a:t>Dropping the terms unrelated to G leads to the following optimization problem </a:t>
            </a:r>
          </a:p>
          <a:p>
            <a:pPr marL="36900" indent="0">
              <a:buNone/>
            </a:pPr>
            <a:endParaRPr lang="en-US" dirty="0"/>
          </a:p>
          <a:p>
            <a:pPr marL="36900" indent="0">
              <a:buNone/>
            </a:pPr>
            <a:r>
              <a:rPr lang="en-US" dirty="0"/>
              <a:t>The closed form solution can be easily obtained by performing the shrinkage operation</a:t>
            </a:r>
            <a:br>
              <a:rPr lang="en-IN" dirty="0"/>
            </a:br>
            <a:r>
              <a:rPr lang="en-US" dirty="0" err="1"/>
              <a:t>Sε</a:t>
            </a:r>
            <a:r>
              <a:rPr lang="en-US" dirty="0"/>
              <a:t>&gt;0[·] represents the shrinkage operator, the definition of which on scalars</a:t>
            </a:r>
            <a:endParaRPr lang="en-IN" dirty="0"/>
          </a:p>
          <a:p>
            <a:pPr marL="36900" indent="0" algn="ctr">
              <a:buNone/>
            </a:pPr>
            <a:r>
              <a:rPr lang="en-IN" dirty="0"/>
              <a:t>S</a:t>
            </a:r>
            <a:r>
              <a:rPr lang="el-GR" dirty="0"/>
              <a:t>ε[</a:t>
            </a:r>
            <a:r>
              <a:rPr lang="en-IN" dirty="0"/>
              <a:t>a] = </a:t>
            </a:r>
            <a:r>
              <a:rPr lang="en-IN" dirty="0" err="1"/>
              <a:t>sgn</a:t>
            </a:r>
            <a:r>
              <a:rPr lang="en-IN" dirty="0"/>
              <a:t>(a) max(|a| − </a:t>
            </a:r>
            <a:r>
              <a:rPr lang="el-GR" dirty="0"/>
              <a:t>ε,0)</a:t>
            </a:r>
            <a:endParaRPr lang="en-US" dirty="0"/>
          </a:p>
        </p:txBody>
      </p:sp>
      <p:pic>
        <p:nvPicPr>
          <p:cNvPr id="5" name="Picture 4">
            <a:extLst>
              <a:ext uri="{FF2B5EF4-FFF2-40B4-BE49-F238E27FC236}">
                <a16:creationId xmlns:a16="http://schemas.microsoft.com/office/drawing/2014/main" id="{0E380118-683D-09B4-677E-89FADA84DA53}"/>
              </a:ext>
            </a:extLst>
          </p:cNvPr>
          <p:cNvPicPr>
            <a:picLocks noChangeAspect="1"/>
          </p:cNvPicPr>
          <p:nvPr/>
        </p:nvPicPr>
        <p:blipFill>
          <a:blip r:embed="rId2"/>
          <a:stretch>
            <a:fillRect/>
          </a:stretch>
        </p:blipFill>
        <p:spPr>
          <a:xfrm>
            <a:off x="2799740" y="3038168"/>
            <a:ext cx="5420285" cy="569918"/>
          </a:xfrm>
          <a:prstGeom prst="rect">
            <a:avLst/>
          </a:prstGeom>
        </p:spPr>
      </p:pic>
    </p:spTree>
    <p:extLst>
      <p:ext uri="{BB962C8B-B14F-4D97-AF65-F5344CB8AC3E}">
        <p14:creationId xmlns:p14="http://schemas.microsoft.com/office/powerpoint/2010/main" val="4223784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B2091-0CBF-4AD6-F062-2B407959641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FE62E5-F3A2-A917-8F6C-FDAE05066D55}"/>
              </a:ext>
            </a:extLst>
          </p:cNvPr>
          <p:cNvSpPr>
            <a:spLocks noGrp="1"/>
          </p:cNvSpPr>
          <p:nvPr>
            <p:ph idx="1"/>
          </p:nvPr>
        </p:nvSpPr>
        <p:spPr/>
        <p:txBody>
          <a:bodyPr/>
          <a:lstStyle/>
          <a:p>
            <a:r>
              <a:rPr lang="en-IN" dirty="0"/>
              <a:t>Z and µ Sub-Problem-  </a:t>
            </a:r>
            <a:r>
              <a:rPr lang="en-US" dirty="0"/>
              <a:t>The following equations are followed for updating Z and µ</a:t>
            </a:r>
            <a:br>
              <a:rPr lang="en-US" dirty="0"/>
            </a:br>
            <a:endParaRPr lang="en-US" dirty="0"/>
          </a:p>
        </p:txBody>
      </p:sp>
      <p:pic>
        <p:nvPicPr>
          <p:cNvPr id="5" name="Picture 4">
            <a:extLst>
              <a:ext uri="{FF2B5EF4-FFF2-40B4-BE49-F238E27FC236}">
                <a16:creationId xmlns:a16="http://schemas.microsoft.com/office/drawing/2014/main" id="{4869243D-5187-3260-8A0A-ACEB21562DF4}"/>
              </a:ext>
            </a:extLst>
          </p:cNvPr>
          <p:cNvPicPr>
            <a:picLocks noChangeAspect="1"/>
          </p:cNvPicPr>
          <p:nvPr/>
        </p:nvPicPr>
        <p:blipFill>
          <a:blip r:embed="rId2"/>
          <a:stretch>
            <a:fillRect/>
          </a:stretch>
        </p:blipFill>
        <p:spPr>
          <a:xfrm>
            <a:off x="932281" y="3082259"/>
            <a:ext cx="9008131" cy="1942511"/>
          </a:xfrm>
          <a:prstGeom prst="rect">
            <a:avLst/>
          </a:prstGeom>
        </p:spPr>
      </p:pic>
    </p:spTree>
    <p:extLst>
      <p:ext uri="{BB962C8B-B14F-4D97-AF65-F5344CB8AC3E}">
        <p14:creationId xmlns:p14="http://schemas.microsoft.com/office/powerpoint/2010/main" val="2586270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ABBAF-B7E1-CC3F-F8CA-AABA0C1F3B3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D0700AE3-A281-19A1-B728-077F4DF548CF}"/>
              </a:ext>
            </a:extLst>
          </p:cNvPr>
          <p:cNvSpPr>
            <a:spLocks noGrp="1"/>
          </p:cNvSpPr>
          <p:nvPr>
            <p:ph idx="1"/>
          </p:nvPr>
        </p:nvSpPr>
        <p:spPr/>
        <p:txBody>
          <a:bodyPr/>
          <a:lstStyle/>
          <a:p>
            <a:r>
              <a:rPr lang="en-IN" dirty="0"/>
              <a:t>Weighting Strategies-</a:t>
            </a:r>
            <a:r>
              <a:rPr lang="en-US" dirty="0"/>
              <a:t>For the structure-aware refinement on the initial illumination map, the possible weighting strategies can be used for the design of W, such that W = reshape(w), where w is given by</a:t>
            </a:r>
          </a:p>
          <a:p>
            <a:pPr marL="36900" indent="0">
              <a:buNone/>
            </a:pPr>
            <a:r>
              <a:rPr lang="en-US" dirty="0"/>
              <a:t> </a:t>
            </a:r>
            <a:endParaRPr lang="en-IN" dirty="0"/>
          </a:p>
        </p:txBody>
      </p:sp>
      <p:pic>
        <p:nvPicPr>
          <p:cNvPr id="5" name="Picture 4">
            <a:extLst>
              <a:ext uri="{FF2B5EF4-FFF2-40B4-BE49-F238E27FC236}">
                <a16:creationId xmlns:a16="http://schemas.microsoft.com/office/drawing/2014/main" id="{8B47A1EA-BA97-B45E-AC22-8D3BF575BABD}"/>
              </a:ext>
            </a:extLst>
          </p:cNvPr>
          <p:cNvPicPr>
            <a:picLocks noChangeAspect="1"/>
          </p:cNvPicPr>
          <p:nvPr/>
        </p:nvPicPr>
        <p:blipFill>
          <a:blip r:embed="rId2"/>
          <a:stretch>
            <a:fillRect/>
          </a:stretch>
        </p:blipFill>
        <p:spPr>
          <a:xfrm>
            <a:off x="4382895" y="3537549"/>
            <a:ext cx="2915271" cy="739483"/>
          </a:xfrm>
          <a:prstGeom prst="rect">
            <a:avLst/>
          </a:prstGeom>
        </p:spPr>
      </p:pic>
    </p:spTree>
    <p:extLst>
      <p:ext uri="{BB962C8B-B14F-4D97-AF65-F5344CB8AC3E}">
        <p14:creationId xmlns:p14="http://schemas.microsoft.com/office/powerpoint/2010/main" val="2692448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969EC-36A9-BC16-D3B9-0755A9EFDF7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D14A0E9-1046-B564-D373-E0C5772C3FE1}"/>
              </a:ext>
            </a:extLst>
          </p:cNvPr>
          <p:cNvSpPr>
            <a:spLocks noGrp="1"/>
          </p:cNvSpPr>
          <p:nvPr>
            <p:ph idx="1"/>
          </p:nvPr>
        </p:nvSpPr>
        <p:spPr/>
        <p:txBody>
          <a:bodyPr/>
          <a:lstStyle/>
          <a:p>
            <a:r>
              <a:rPr lang="en-US" dirty="0"/>
              <a:t>This strategy involves the use of relative total variation, so for each location, the weight is set as</a:t>
            </a:r>
          </a:p>
          <a:p>
            <a:pPr marL="36900" indent="0">
              <a:buNone/>
            </a:pPr>
            <a:endParaRPr lang="en-US" dirty="0"/>
          </a:p>
          <a:p>
            <a:pPr marL="36900" indent="0">
              <a:buNone/>
            </a:pPr>
            <a:endParaRPr lang="en-US" dirty="0"/>
          </a:p>
          <a:p>
            <a:pPr marL="36900" indent="0">
              <a:buNone/>
            </a:pPr>
            <a:r>
              <a:rPr lang="en-US" dirty="0"/>
              <a:t>where </a:t>
            </a:r>
            <a:r>
              <a:rPr lang="en-US" dirty="0" err="1"/>
              <a:t>p,q</a:t>
            </a:r>
            <a:r>
              <a:rPr lang="en-US" dirty="0"/>
              <a:t> denote two pixels, Ω(p) denotes the region around pixel p and depends on the size of the kernel.</a:t>
            </a:r>
            <a:endParaRPr lang="en-IN" dirty="0"/>
          </a:p>
        </p:txBody>
      </p:sp>
      <p:pic>
        <p:nvPicPr>
          <p:cNvPr id="9" name="Picture 8">
            <a:extLst>
              <a:ext uri="{FF2B5EF4-FFF2-40B4-BE49-F238E27FC236}">
                <a16:creationId xmlns:a16="http://schemas.microsoft.com/office/drawing/2014/main" id="{58222AC4-FD1B-CBBC-5D72-466603A95F6E}"/>
              </a:ext>
            </a:extLst>
          </p:cNvPr>
          <p:cNvPicPr>
            <a:picLocks noChangeAspect="1"/>
          </p:cNvPicPr>
          <p:nvPr/>
        </p:nvPicPr>
        <p:blipFill>
          <a:blip r:embed="rId2"/>
          <a:stretch>
            <a:fillRect/>
          </a:stretch>
        </p:blipFill>
        <p:spPr>
          <a:xfrm>
            <a:off x="4286093" y="2887933"/>
            <a:ext cx="3619814" cy="1082134"/>
          </a:xfrm>
          <a:prstGeom prst="rect">
            <a:avLst/>
          </a:prstGeom>
        </p:spPr>
      </p:pic>
    </p:spTree>
    <p:extLst>
      <p:ext uri="{BB962C8B-B14F-4D97-AF65-F5344CB8AC3E}">
        <p14:creationId xmlns:p14="http://schemas.microsoft.com/office/powerpoint/2010/main" val="4076980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6E107-B3EE-FD0E-17C6-1D59A88996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20E662B-375D-A2EE-63FD-C2A9807DB68D}"/>
              </a:ext>
            </a:extLst>
          </p:cNvPr>
          <p:cNvSpPr>
            <a:spLocks noGrp="1"/>
          </p:cNvSpPr>
          <p:nvPr>
            <p:ph idx="1"/>
          </p:nvPr>
        </p:nvSpPr>
        <p:spPr/>
        <p:txBody>
          <a:bodyPr/>
          <a:lstStyle/>
          <a:p>
            <a:r>
              <a:rPr lang="en-IN" dirty="0"/>
              <a:t>Post Processing Techniques</a:t>
            </a:r>
            <a:br>
              <a:rPr lang="en-IN" dirty="0"/>
            </a:br>
            <a:r>
              <a:rPr lang="en-US" dirty="0"/>
              <a:t>After obtaining the refined illumination map T, gamma correction is applied on T, in order to improve the visual perception of the result, as follows</a:t>
            </a:r>
          </a:p>
          <a:p>
            <a:pPr marL="36900" indent="0">
              <a:buNone/>
            </a:pPr>
            <a:endParaRPr lang="en-US" dirty="0"/>
          </a:p>
          <a:p>
            <a:pPr marL="36900" indent="0">
              <a:buNone/>
            </a:pPr>
            <a:endParaRPr lang="en-IN" dirty="0"/>
          </a:p>
        </p:txBody>
      </p:sp>
      <p:pic>
        <p:nvPicPr>
          <p:cNvPr id="5" name="Picture 4">
            <a:extLst>
              <a:ext uri="{FF2B5EF4-FFF2-40B4-BE49-F238E27FC236}">
                <a16:creationId xmlns:a16="http://schemas.microsoft.com/office/drawing/2014/main" id="{B091E9A6-5F24-0E04-47FD-8A120C84D276}"/>
              </a:ext>
            </a:extLst>
          </p:cNvPr>
          <p:cNvPicPr>
            <a:picLocks noChangeAspect="1"/>
          </p:cNvPicPr>
          <p:nvPr/>
        </p:nvPicPr>
        <p:blipFill>
          <a:blip r:embed="rId2"/>
          <a:stretch>
            <a:fillRect/>
          </a:stretch>
        </p:blipFill>
        <p:spPr>
          <a:xfrm>
            <a:off x="3613355" y="3284207"/>
            <a:ext cx="3996812" cy="733713"/>
          </a:xfrm>
          <a:prstGeom prst="rect">
            <a:avLst/>
          </a:prstGeom>
        </p:spPr>
      </p:pic>
    </p:spTree>
    <p:extLst>
      <p:ext uri="{BB962C8B-B14F-4D97-AF65-F5344CB8AC3E}">
        <p14:creationId xmlns:p14="http://schemas.microsoft.com/office/powerpoint/2010/main" val="2956585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8A28-32CC-36D6-2EEC-27CE42ED408D}"/>
              </a:ext>
            </a:extLst>
          </p:cNvPr>
          <p:cNvSpPr>
            <a:spLocks noGrp="1"/>
          </p:cNvSpPr>
          <p:nvPr>
            <p:ph type="title"/>
          </p:nvPr>
        </p:nvSpPr>
        <p:spPr/>
        <p:txBody>
          <a:bodyPr/>
          <a:lstStyle/>
          <a:p>
            <a:r>
              <a:rPr lang="en-IN" dirty="0"/>
              <a:t>Denoising</a:t>
            </a:r>
          </a:p>
        </p:txBody>
      </p:sp>
      <p:sp>
        <p:nvSpPr>
          <p:cNvPr id="3" name="Content Placeholder 2">
            <a:extLst>
              <a:ext uri="{FF2B5EF4-FFF2-40B4-BE49-F238E27FC236}">
                <a16:creationId xmlns:a16="http://schemas.microsoft.com/office/drawing/2014/main" id="{8B1098F8-2718-99C5-460D-0693C69F914E}"/>
              </a:ext>
            </a:extLst>
          </p:cNvPr>
          <p:cNvSpPr>
            <a:spLocks noGrp="1"/>
          </p:cNvSpPr>
          <p:nvPr>
            <p:ph idx="1"/>
          </p:nvPr>
        </p:nvSpPr>
        <p:spPr/>
        <p:txBody>
          <a:bodyPr/>
          <a:lstStyle/>
          <a:p>
            <a:r>
              <a:rPr lang="en-US" dirty="0"/>
              <a:t>Denoising techniques are required to further improve the visual </a:t>
            </a:r>
            <a:r>
              <a:rPr lang="en-US" dirty="0" err="1"/>
              <a:t>quality.A</a:t>
            </a:r>
            <a:r>
              <a:rPr lang="en-US" dirty="0"/>
              <a:t> bilateral filter (BF) is a nonlinear, edge-preserving, smoothing filter which has been used in our case.</a:t>
            </a:r>
            <a:endParaRPr lang="en-IN" dirty="0"/>
          </a:p>
        </p:txBody>
      </p:sp>
    </p:spTree>
    <p:extLst>
      <p:ext uri="{BB962C8B-B14F-4D97-AF65-F5344CB8AC3E}">
        <p14:creationId xmlns:p14="http://schemas.microsoft.com/office/powerpoint/2010/main" val="995479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5B831-75EF-3413-6BCD-F66E391E716B}"/>
              </a:ext>
            </a:extLst>
          </p:cNvPr>
          <p:cNvSpPr>
            <a:spLocks noGrp="1"/>
          </p:cNvSpPr>
          <p:nvPr>
            <p:ph type="title"/>
          </p:nvPr>
        </p:nvSpPr>
        <p:spPr/>
        <p:txBody>
          <a:bodyPr/>
          <a:lstStyle/>
          <a:p>
            <a:r>
              <a:rPr lang="en-IN" dirty="0"/>
              <a:t>Algorithm LIME</a:t>
            </a:r>
          </a:p>
        </p:txBody>
      </p:sp>
      <p:sp>
        <p:nvSpPr>
          <p:cNvPr id="3" name="Content Placeholder 2">
            <a:extLst>
              <a:ext uri="{FF2B5EF4-FFF2-40B4-BE49-F238E27FC236}">
                <a16:creationId xmlns:a16="http://schemas.microsoft.com/office/drawing/2014/main" id="{235BC93C-F882-780D-3C75-736BC3E966DD}"/>
              </a:ext>
            </a:extLst>
          </p:cNvPr>
          <p:cNvSpPr>
            <a:spLocks noGrp="1"/>
          </p:cNvSpPr>
          <p:nvPr>
            <p:ph idx="1"/>
          </p:nvPr>
        </p:nvSpPr>
        <p:spPr/>
        <p:txBody>
          <a:bodyPr/>
          <a:lstStyle/>
          <a:p>
            <a:r>
              <a:rPr lang="en-US" dirty="0"/>
              <a:t>Low-light image L, positive coefficients α,</a:t>
            </a:r>
            <a:r>
              <a:rPr lang="en-US" dirty="0" err="1"/>
              <a:t>γ,ρ</a:t>
            </a:r>
            <a:r>
              <a:rPr lang="en-US" dirty="0"/>
              <a:t>, and µ(0)</a:t>
            </a:r>
            <a:endParaRPr lang="en-IN" dirty="0"/>
          </a:p>
          <a:p>
            <a:r>
              <a:rPr lang="pt-BR" dirty="0"/>
              <a:t>Initialize: k = 0, G(0) = Z(0) = 0 ∈ R2M×N</a:t>
            </a:r>
            <a:endParaRPr lang="en-IN" dirty="0"/>
          </a:p>
          <a:p>
            <a:r>
              <a:rPr lang="en-US" dirty="0"/>
              <a:t>Estimate the initial illumination map ˆ T on L using</a:t>
            </a:r>
          </a:p>
          <a:p>
            <a:endParaRPr lang="en-US" dirty="0"/>
          </a:p>
          <a:p>
            <a:r>
              <a:rPr lang="en-US" dirty="0"/>
              <a:t>U</a:t>
            </a:r>
            <a:r>
              <a:rPr lang="en-IN" dirty="0" err="1"/>
              <a:t>pdate</a:t>
            </a:r>
            <a:r>
              <a:rPr lang="en-IN" dirty="0"/>
              <a:t> T(k+1) using </a:t>
            </a:r>
            <a:br>
              <a:rPr lang="en-IN" dirty="0"/>
            </a:br>
            <a:br>
              <a:rPr lang="en-IN" dirty="0"/>
            </a:br>
            <a:endParaRPr lang="en-IN" dirty="0"/>
          </a:p>
        </p:txBody>
      </p:sp>
      <p:pic>
        <p:nvPicPr>
          <p:cNvPr id="5" name="Picture 4">
            <a:extLst>
              <a:ext uri="{FF2B5EF4-FFF2-40B4-BE49-F238E27FC236}">
                <a16:creationId xmlns:a16="http://schemas.microsoft.com/office/drawing/2014/main" id="{01A6AE60-AC3D-FA17-741D-3D7449467DC7}"/>
              </a:ext>
            </a:extLst>
          </p:cNvPr>
          <p:cNvPicPr>
            <a:picLocks noChangeAspect="1"/>
          </p:cNvPicPr>
          <p:nvPr/>
        </p:nvPicPr>
        <p:blipFill>
          <a:blip r:embed="rId2"/>
          <a:stretch>
            <a:fillRect/>
          </a:stretch>
        </p:blipFill>
        <p:spPr>
          <a:xfrm>
            <a:off x="5073318" y="3735687"/>
            <a:ext cx="2034716" cy="396274"/>
          </a:xfrm>
          <a:prstGeom prst="rect">
            <a:avLst/>
          </a:prstGeom>
        </p:spPr>
      </p:pic>
      <p:pic>
        <p:nvPicPr>
          <p:cNvPr id="7" name="Picture 6">
            <a:extLst>
              <a:ext uri="{FF2B5EF4-FFF2-40B4-BE49-F238E27FC236}">
                <a16:creationId xmlns:a16="http://schemas.microsoft.com/office/drawing/2014/main" id="{EE21194B-88EF-FF34-6131-134646B9E24D}"/>
              </a:ext>
            </a:extLst>
          </p:cNvPr>
          <p:cNvPicPr>
            <a:picLocks noChangeAspect="1"/>
          </p:cNvPicPr>
          <p:nvPr/>
        </p:nvPicPr>
        <p:blipFill>
          <a:blip r:embed="rId3"/>
          <a:stretch>
            <a:fillRect/>
          </a:stretch>
        </p:blipFill>
        <p:spPr>
          <a:xfrm>
            <a:off x="3521868" y="4784466"/>
            <a:ext cx="3909399" cy="769687"/>
          </a:xfrm>
          <a:prstGeom prst="rect">
            <a:avLst/>
          </a:prstGeom>
        </p:spPr>
      </p:pic>
    </p:spTree>
    <p:extLst>
      <p:ext uri="{BB962C8B-B14F-4D97-AF65-F5344CB8AC3E}">
        <p14:creationId xmlns:p14="http://schemas.microsoft.com/office/powerpoint/2010/main" val="3507760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C2730-DE3D-1276-E482-6BE3C10D12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4E611C0-65D4-17CC-BAA3-73C200EA69DB}"/>
              </a:ext>
            </a:extLst>
          </p:cNvPr>
          <p:cNvSpPr>
            <a:spLocks noGrp="1"/>
          </p:cNvSpPr>
          <p:nvPr>
            <p:ph idx="1"/>
          </p:nvPr>
        </p:nvSpPr>
        <p:spPr/>
        <p:txBody>
          <a:bodyPr>
            <a:normAutofit fontScale="92500" lnSpcReduction="10000"/>
          </a:bodyPr>
          <a:lstStyle/>
          <a:p>
            <a:r>
              <a:rPr lang="en-IN" dirty="0"/>
              <a:t>Update G(k+1)  using shrinkage operation</a:t>
            </a:r>
          </a:p>
          <a:p>
            <a:r>
              <a:rPr lang="en-US" dirty="0"/>
              <a:t>Update Z(k+1) and µ(k+1)</a:t>
            </a:r>
          </a:p>
          <a:p>
            <a:endParaRPr lang="en-US" dirty="0"/>
          </a:p>
          <a:p>
            <a:endParaRPr lang="en-US" dirty="0"/>
          </a:p>
          <a:p>
            <a:r>
              <a:rPr lang="en-IN" dirty="0"/>
              <a:t>k = k + 1</a:t>
            </a:r>
          </a:p>
          <a:p>
            <a:r>
              <a:rPr lang="en-IN" dirty="0"/>
              <a:t>Apply Gamma correction</a:t>
            </a:r>
          </a:p>
          <a:p>
            <a:r>
              <a:rPr lang="en-IN" dirty="0"/>
              <a:t>Denoise the image using Bilateral Filtering</a:t>
            </a:r>
            <a:br>
              <a:rPr lang="en-IN" dirty="0"/>
            </a:br>
            <a:endParaRPr lang="en-IN" dirty="0"/>
          </a:p>
        </p:txBody>
      </p:sp>
      <p:pic>
        <p:nvPicPr>
          <p:cNvPr id="5" name="Picture 4">
            <a:extLst>
              <a:ext uri="{FF2B5EF4-FFF2-40B4-BE49-F238E27FC236}">
                <a16:creationId xmlns:a16="http://schemas.microsoft.com/office/drawing/2014/main" id="{8B41495B-37E9-D773-17F4-16E99E290EDF}"/>
              </a:ext>
            </a:extLst>
          </p:cNvPr>
          <p:cNvPicPr>
            <a:picLocks noChangeAspect="1"/>
          </p:cNvPicPr>
          <p:nvPr/>
        </p:nvPicPr>
        <p:blipFill>
          <a:blip r:embed="rId2"/>
          <a:stretch>
            <a:fillRect/>
          </a:stretch>
        </p:blipFill>
        <p:spPr>
          <a:xfrm>
            <a:off x="3588114" y="3097500"/>
            <a:ext cx="4451881" cy="928809"/>
          </a:xfrm>
          <a:prstGeom prst="rect">
            <a:avLst/>
          </a:prstGeom>
        </p:spPr>
      </p:pic>
    </p:spTree>
    <p:extLst>
      <p:ext uri="{BB962C8B-B14F-4D97-AF65-F5344CB8AC3E}">
        <p14:creationId xmlns:p14="http://schemas.microsoft.com/office/powerpoint/2010/main" val="3127683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13FCE-69B7-AD38-B1E4-CCD6280F6C18}"/>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833269AA-EDBB-9E56-DD78-3243D475B9FB}"/>
              </a:ext>
            </a:extLst>
          </p:cNvPr>
          <p:cNvSpPr>
            <a:spLocks noGrp="1"/>
          </p:cNvSpPr>
          <p:nvPr>
            <p:ph idx="1"/>
          </p:nvPr>
        </p:nvSpPr>
        <p:spPr/>
        <p:txBody>
          <a:bodyPr/>
          <a:lstStyle/>
          <a:p>
            <a:r>
              <a:rPr lang="en-US" dirty="0"/>
              <a:t>In this study, we present a method for enhancing low-light images by estimating an illumination map. The results obtained using our approach are consistent with those reported in foundational studies. Our objective is to offer a clearer and more accessible explanation of the core principles involved.</a:t>
            </a:r>
            <a:endParaRPr lang="en-IN" dirty="0"/>
          </a:p>
        </p:txBody>
      </p:sp>
    </p:spTree>
    <p:extLst>
      <p:ext uri="{BB962C8B-B14F-4D97-AF65-F5344CB8AC3E}">
        <p14:creationId xmlns:p14="http://schemas.microsoft.com/office/powerpoint/2010/main" val="3472218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D6EB3-71C8-C2A7-C470-3E3D37AAFCCD}"/>
              </a:ext>
            </a:extLst>
          </p:cNvPr>
          <p:cNvSpPr>
            <a:spLocks noGrp="1"/>
          </p:cNvSpPr>
          <p:nvPr>
            <p:ph type="title"/>
          </p:nvPr>
        </p:nvSpPr>
        <p:spPr/>
        <p:txBody>
          <a:bodyPr/>
          <a:lstStyle/>
          <a:p>
            <a:r>
              <a:rPr lang="en-IN" dirty="0"/>
              <a:t>Results</a:t>
            </a:r>
          </a:p>
        </p:txBody>
      </p:sp>
      <p:pic>
        <p:nvPicPr>
          <p:cNvPr id="5" name="Content Placeholder 4">
            <a:extLst>
              <a:ext uri="{FF2B5EF4-FFF2-40B4-BE49-F238E27FC236}">
                <a16:creationId xmlns:a16="http://schemas.microsoft.com/office/drawing/2014/main" id="{7DA76AD7-5BAF-4545-6AA6-5D68AA082F03}"/>
              </a:ext>
            </a:extLst>
          </p:cNvPr>
          <p:cNvPicPr>
            <a:picLocks noGrp="1" noChangeAspect="1"/>
          </p:cNvPicPr>
          <p:nvPr>
            <p:ph idx="1"/>
          </p:nvPr>
        </p:nvPicPr>
        <p:blipFill>
          <a:blip r:embed="rId2"/>
          <a:stretch>
            <a:fillRect/>
          </a:stretch>
        </p:blipFill>
        <p:spPr>
          <a:xfrm>
            <a:off x="2749578" y="2192504"/>
            <a:ext cx="6683319" cy="3482642"/>
          </a:xfrm>
        </p:spPr>
      </p:pic>
    </p:spTree>
    <p:extLst>
      <p:ext uri="{BB962C8B-B14F-4D97-AF65-F5344CB8AC3E}">
        <p14:creationId xmlns:p14="http://schemas.microsoft.com/office/powerpoint/2010/main" val="3979973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070F8-46AC-8899-A5A9-6EDB7801FBB5}"/>
              </a:ext>
            </a:extLst>
          </p:cNvPr>
          <p:cNvSpPr>
            <a:spLocks noGrp="1"/>
          </p:cNvSpPr>
          <p:nvPr>
            <p:ph type="title"/>
          </p:nvPr>
        </p:nvSpPr>
        <p:spPr/>
        <p:txBody>
          <a:bodyPr/>
          <a:lstStyle/>
          <a:p>
            <a:r>
              <a:rPr lang="en-IN" dirty="0"/>
              <a:t>Results</a:t>
            </a:r>
          </a:p>
        </p:txBody>
      </p:sp>
      <p:pic>
        <p:nvPicPr>
          <p:cNvPr id="5" name="Content Placeholder 4">
            <a:extLst>
              <a:ext uri="{FF2B5EF4-FFF2-40B4-BE49-F238E27FC236}">
                <a16:creationId xmlns:a16="http://schemas.microsoft.com/office/drawing/2014/main" id="{A05BDC90-3FD8-31EE-6ADA-D17AB73834DA}"/>
              </a:ext>
            </a:extLst>
          </p:cNvPr>
          <p:cNvPicPr>
            <a:picLocks noGrp="1" noChangeAspect="1"/>
          </p:cNvPicPr>
          <p:nvPr>
            <p:ph idx="1"/>
          </p:nvPr>
        </p:nvPicPr>
        <p:blipFill>
          <a:blip r:embed="rId2"/>
          <a:stretch>
            <a:fillRect/>
          </a:stretch>
        </p:blipFill>
        <p:spPr>
          <a:xfrm>
            <a:off x="2972990" y="2076450"/>
            <a:ext cx="6236494" cy="3714750"/>
          </a:xfrm>
        </p:spPr>
      </p:pic>
    </p:spTree>
    <p:extLst>
      <p:ext uri="{BB962C8B-B14F-4D97-AF65-F5344CB8AC3E}">
        <p14:creationId xmlns:p14="http://schemas.microsoft.com/office/powerpoint/2010/main" val="788631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7B2C9-DAB9-9FE6-6D90-86AA6429CF27}"/>
              </a:ext>
            </a:extLst>
          </p:cNvPr>
          <p:cNvSpPr>
            <a:spLocks noGrp="1"/>
          </p:cNvSpPr>
          <p:nvPr>
            <p:ph type="title"/>
          </p:nvPr>
        </p:nvSpPr>
        <p:spPr/>
        <p:txBody>
          <a:bodyPr/>
          <a:lstStyle/>
          <a:p>
            <a:r>
              <a:rPr lang="en-IN" dirty="0"/>
              <a:t>Results</a:t>
            </a:r>
          </a:p>
        </p:txBody>
      </p:sp>
      <p:pic>
        <p:nvPicPr>
          <p:cNvPr id="5" name="Content Placeholder 4">
            <a:extLst>
              <a:ext uri="{FF2B5EF4-FFF2-40B4-BE49-F238E27FC236}">
                <a16:creationId xmlns:a16="http://schemas.microsoft.com/office/drawing/2014/main" id="{3D2E7639-3654-1264-9D5C-CC83CBE83A03}"/>
              </a:ext>
            </a:extLst>
          </p:cNvPr>
          <p:cNvPicPr>
            <a:picLocks noGrp="1" noChangeAspect="1"/>
          </p:cNvPicPr>
          <p:nvPr>
            <p:ph idx="1"/>
          </p:nvPr>
        </p:nvPicPr>
        <p:blipFill>
          <a:blip r:embed="rId2"/>
          <a:stretch>
            <a:fillRect/>
          </a:stretch>
        </p:blipFill>
        <p:spPr>
          <a:xfrm>
            <a:off x="2711474" y="2123918"/>
            <a:ext cx="6759526" cy="3619814"/>
          </a:xfrm>
        </p:spPr>
      </p:pic>
    </p:spTree>
    <p:extLst>
      <p:ext uri="{BB962C8B-B14F-4D97-AF65-F5344CB8AC3E}">
        <p14:creationId xmlns:p14="http://schemas.microsoft.com/office/powerpoint/2010/main" val="725626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396F-DEBC-F21F-76EA-FA0DA7FE8D4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6EB5AF1-C0E4-931E-423F-2100A5B7B598}"/>
              </a:ext>
            </a:extLst>
          </p:cNvPr>
          <p:cNvSpPr>
            <a:spLocks noGrp="1"/>
          </p:cNvSpPr>
          <p:nvPr>
            <p:ph idx="1"/>
          </p:nvPr>
        </p:nvSpPr>
        <p:spPr/>
        <p:txBody>
          <a:bodyPr/>
          <a:lstStyle/>
          <a:p>
            <a:r>
              <a:rPr lang="en-IN" dirty="0"/>
              <a:t>I would like to thank Dr. Saurabh Janardan </a:t>
            </a:r>
            <a:r>
              <a:rPr lang="en-IN" dirty="0" err="1"/>
              <a:t>Shigwan</a:t>
            </a:r>
            <a:r>
              <a:rPr lang="en-IN" dirty="0"/>
              <a:t> </a:t>
            </a:r>
            <a:r>
              <a:rPr lang="en-US" dirty="0"/>
              <a:t>for his invaluable guidance, support, and encouragement were instrumental throughout the project. His insights and expertise helped shape the direction and quality of this work. </a:t>
            </a:r>
          </a:p>
          <a:p>
            <a:pPr marL="36900" indent="0">
              <a:buNone/>
            </a:pPr>
            <a:endParaRPr lang="en-IN" dirty="0"/>
          </a:p>
        </p:txBody>
      </p:sp>
    </p:spTree>
    <p:extLst>
      <p:ext uri="{BB962C8B-B14F-4D97-AF65-F5344CB8AC3E}">
        <p14:creationId xmlns:p14="http://schemas.microsoft.com/office/powerpoint/2010/main" val="22403400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4B270AB-C138-415C-897E-3C24487DEC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{2F6D73EA-8DE8-44B2-81CB-983961F97EBD}tf55705232_win32</Template>
  <TotalTime>428</TotalTime>
  <Words>1059</Words>
  <Application>Microsoft Office PowerPoint</Application>
  <PresentationFormat>Widescreen</PresentationFormat>
  <Paragraphs>59</Paragraphs>
  <Slides>29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Calibri</vt:lpstr>
      <vt:lpstr>Goudy Old Style</vt:lpstr>
      <vt:lpstr>Wingdings 2</vt:lpstr>
      <vt:lpstr>SlateVTI</vt:lpstr>
      <vt:lpstr>CSD 212  DIGITAL IMAGE PROCESSING</vt:lpstr>
      <vt:lpstr>Research Paper Implementation</vt:lpstr>
      <vt:lpstr>Introduction</vt:lpstr>
      <vt:lpstr>Drawbacks of Using Traditional Methods</vt:lpstr>
      <vt:lpstr>Drawbacks of Using Traditional Methods</vt:lpstr>
      <vt:lpstr>Drawbacks of Using Traditional Methods</vt:lpstr>
      <vt:lpstr>Methodology</vt:lpstr>
      <vt:lpstr>PowerPoint Presentation</vt:lpstr>
      <vt:lpstr>PowerPoint Presentation</vt:lpstr>
      <vt:lpstr>PowerPoint Presentation</vt:lpstr>
      <vt:lpstr>PowerPoint Presentation</vt:lpstr>
      <vt:lpstr>Solving The Optimization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Denoising</vt:lpstr>
      <vt:lpstr>Algorithm LIME</vt:lpstr>
      <vt:lpstr>PowerPoint Presentation</vt:lpstr>
      <vt:lpstr>Conclusion</vt:lpstr>
      <vt:lpstr>Results</vt:lpstr>
      <vt:lpstr>Results</vt:lpstr>
      <vt:lpstr>Results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Ruchir Sharma</dc:creator>
  <cp:lastModifiedBy>Ruchir Sharma</cp:lastModifiedBy>
  <cp:revision>1</cp:revision>
  <dcterms:created xsi:type="dcterms:W3CDTF">2025-05-10T23:21:08Z</dcterms:created>
  <dcterms:modified xsi:type="dcterms:W3CDTF">2025-08-04T11:03:13Z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